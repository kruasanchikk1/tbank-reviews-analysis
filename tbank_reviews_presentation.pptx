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 КЛИЕНТОВ Т-БАНКА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6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теряем лояльность и что с этим делать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Т-Интенсива по продуктовой аналитике · лето 2026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607040" y="914400"/>
            <a:ext cx="91440" cy="91440"/>
          </a:xfrm>
          <a:prstGeom prst="ellipse">
            <a:avLst/>
          </a:prstGeom>
          <a:solidFill>
            <a:srgbClr val="7C8CFF"/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463040"/>
            <a:ext cx="54864" cy="54864"/>
          </a:xfrm>
          <a:prstGeom prst="ellipse">
            <a:avLst/>
          </a:prstGeom>
          <a:solidFill>
            <a:srgbClr val="7C8CF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5760720"/>
            <a:ext cx="73152" cy="73152"/>
          </a:xfrm>
          <a:prstGeom prst="ellipse">
            <a:avLst/>
          </a:prstGeom>
          <a:solidFill>
            <a:srgbClr val="7C8CFF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822960"/>
            <a:ext cx="54864" cy="54864"/>
          </a:xfrm>
          <a:prstGeom prst="ellipse">
            <a:avLst/>
          </a:prstGeom>
          <a:solidFill>
            <a:srgbClr val="7C8CFF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4114800"/>
            <a:ext cx="91440" cy="91440"/>
          </a:xfrm>
          <a:prstGeom prst="ellipse">
            <a:avLst/>
          </a:prstGeom>
          <a:solidFill>
            <a:srgbClr val="7C8C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017520"/>
            <a:ext cx="54864" cy="54864"/>
          </a:xfrm>
          <a:prstGeom prst="ellipse">
            <a:avLst/>
          </a:prstGeom>
          <a:solidFill>
            <a:srgbClr val="7C8C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 чём датасет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56 820 отзывов клиентов Т-Банка о продуктах и сервисе, собранных с 20 источников (banki.ru, sravni.ru, соцсети и др.) за январь–ноябрь 2025 года.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сформулировать и статистически проверить гипотезы о причинах недовольства клиентов и предложить продуктовые рекомендации.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49440" y="169164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131A3A"/>
          </a:solidFill>
          <a:ln/>
        </p:spPr>
      </p:sp>
      <p:sp>
        <p:nvSpPr>
          <p:cNvPr id="7" name="Text 5"/>
          <p:cNvSpPr/>
          <p:nvPr/>
        </p:nvSpPr>
        <p:spPr>
          <a:xfrm>
            <a:off x="7086600" y="1801368"/>
            <a:ext cx="201168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FD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56 820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086600" y="2514600"/>
            <a:ext cx="20116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отзывов клиентов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418320" y="169164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131A3A"/>
          </a:solidFill>
          <a:ln/>
        </p:spPr>
      </p:sp>
      <p:sp>
        <p:nvSpPr>
          <p:cNvPr id="10" name="Text 8"/>
          <p:cNvSpPr/>
          <p:nvPr/>
        </p:nvSpPr>
        <p:spPr>
          <a:xfrm>
            <a:off x="9555480" y="1801368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C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55480" y="2514600"/>
            <a:ext cx="19202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источников данных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49440" y="324612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131A3A"/>
          </a:solidFill>
          <a:ln/>
        </p:spPr>
      </p:sp>
      <p:sp>
        <p:nvSpPr>
          <p:cNvPr id="13" name="Text 11"/>
          <p:cNvSpPr/>
          <p:nvPr/>
        </p:nvSpPr>
        <p:spPr>
          <a:xfrm>
            <a:off x="7086600" y="3355848"/>
            <a:ext cx="201168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FD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086600" y="4069080"/>
            <a:ext cx="20116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переменных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418320" y="324612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131A3A"/>
          </a:solidFill>
          <a:ln/>
        </p:spPr>
      </p:sp>
      <p:sp>
        <p:nvSpPr>
          <p:cNvPr id="16" name="Text 14"/>
          <p:cNvSpPr/>
          <p:nvPr/>
        </p:nvSpPr>
        <p:spPr>
          <a:xfrm>
            <a:off x="9555480" y="3355848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6B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555480" y="4069080"/>
            <a:ext cx="19202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детракторов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 клиентов Т-Банка — продуктовая аналитика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ПРЕЖДЕ ЧЕМ СЧИТАТЬ МЕТРИКИ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Чему в данных можно доверять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31A3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128016" cy="128016"/>
          </a:xfrm>
          <a:prstGeom prst="ellipse">
            <a:avLst/>
          </a:prstGeom>
          <a:solidFill>
            <a:srgbClr val="4FD1F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92024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D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review_mark → mark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0" y="1920240"/>
            <a:ext cx="72511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19% отзывов вместо оценки — текстовая тональность. Смэппил в единую шкалу 1–5, чтобы не терять 11 тыс. отзывов.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31A3A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611880"/>
            <a:ext cx="128016" cy="128016"/>
          </a:xfrm>
          <a:prstGeom prst="ellipse">
            <a:avLst/>
          </a:prstGeom>
          <a:solidFill>
            <a:srgbClr val="FF6B81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33756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csat_score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0" y="3337560"/>
            <a:ext cx="72511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Официальная метрика удовлетворённости заполнена только у 6% отзывов (3 407 из 56 820) — непригодна как основной ряд.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31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5029200"/>
            <a:ext cx="128016" cy="128016"/>
          </a:xfrm>
          <a:prstGeom prst="ellipse">
            <a:avLst/>
          </a:prstGeom>
          <a:solidFill>
            <a:srgbClr val="7C8C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75488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review_source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97680" y="4754880"/>
            <a:ext cx="72511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2 площадки, а 20. Разбивка только на banki.ru/sravni.ru давала неполную и вводящую в заблуждение картину — см. гипотезу H3.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 клиентов Т-Банка — продуктовая аналитика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H1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Чем дольше решают вопрос — тем ниже оценка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31A3A"/>
          </a:solidFill>
          <a:ln w="15875">
            <a:solidFill>
              <a:srgbClr val="4FD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ПОДТВЕРЖДЕНА</a:t>
            </a:r>
            <a:endParaRPr lang="en-US" sz="1200" dirty="0"/>
          </a:p>
        </p:txBody>
      </p:sp>
      <p:pic>
        <p:nvPicPr>
          <p:cNvPr id="6" name="Image 0" descr="C:\Users\igora\edu_portfolios\tbank-reviews-analysis\images\02_processing_time_vs_detracto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48840"/>
            <a:ext cx="603504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03720" y="2148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 = −0.47, p &lt; 0.001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903720" y="256946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56 575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03720" y="3127248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Обращения, закрытые за час, дают 20% недовольных — те, что тянутся 1–3 дня, 94%. Но осторожно с причинностью: сложные кейсы и решаются дольше, и злят сильнее — это может быть общая причина, а не цепочка «долго → зол».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 клиентов Т-Банка — продуктовая аналитика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H2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Удовлетворённость растёт вместе с ценностью клиентского сегмента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31A3A"/>
          </a:solidFill>
          <a:ln w="15875">
            <a:solidFill>
              <a:srgbClr val="4FD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ПОДТВЕРЖДЕНА</a:t>
            </a:r>
            <a:endParaRPr lang="en-US" sz="1200" dirty="0"/>
          </a:p>
        </p:txBody>
      </p:sp>
      <p:pic>
        <p:nvPicPr>
          <p:cNvPr id="6" name="Image 0" descr="C:\Users\igora\edu_portfolios\tbank-reviews-analysis\images\09_segment_satisfa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48840"/>
            <a:ext cx="603504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03720" y="2148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3.13 (Защищённые) → 4.06 (Высокодоходные с ПМ)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903720" y="256946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F = 131.6, p &lt; 0.001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03720" y="3127248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Монотонная зависимость почти без исключений. Вероятная причина — не «более обеспеченные мягче», а разница в уровне обслуживания (выделенная линия поддержки). Вопрос для бизнеса: что из premium-сервиса дёшево перенести на массовый сегмент.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 клиентов Т-Банка — продуктовая аналитика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H3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Доля недовольных различается между источниками отзывов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31A3A"/>
          </a:solidFill>
          <a:ln w="15875">
            <a:solidFill>
              <a:srgbClr val="4FD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ПОДТВЕРЖДЕНА (иначе, чем ждали)</a:t>
            </a:r>
            <a:endParaRPr lang="en-US" sz="1200" dirty="0"/>
          </a:p>
        </p:txBody>
      </p:sp>
      <p:pic>
        <p:nvPicPr>
          <p:cNvPr id="6" name="Image 0" descr="C:\Users\igora\edu_portfolios\tbank-reviews-analysis\images\10_platform_breakdow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48840"/>
            <a:ext cx="603504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03720" y="2148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5315, p &lt; 0.001, 20 источников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903720" y="2706624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деление — не между banki.ru (36%) и sravni.ru (20%), а между «витринами мнений» и каналами эскалации жалоб: «пульс» — 99.5% детракторов, обращения без источника — 100%, otzovik — 75%. Считать долю негатива по всем источникам смешанно — методологическая ошибка: разные каналы, разная природа.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 клиентов Т-Банка — продуктовая аналитика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H4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Охват поддержки различается по направлениям бизнеса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31A3A"/>
          </a:solidFill>
          <a:ln w="15875">
            <a:solidFill>
              <a:srgbClr val="4FD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ПОДТВЕРЖДЕНА</a:t>
            </a:r>
            <a:endParaRPr lang="en-US" sz="1200" dirty="0"/>
          </a:p>
        </p:txBody>
      </p:sp>
      <p:pic>
        <p:nvPicPr>
          <p:cNvPr id="6" name="Image 0" descr="C:\Users\igora\edu_portfolios\tbank-reviews-analysis\images\11_resolution_by_business_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48840"/>
            <a:ext cx="603504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03720" y="2148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0.9% (mobile) до 74% (sme) детракторов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903720" y="256946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меткой «решено», χ² = 2178, p &lt; 0.001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03720" y="3127248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«Решение проблемы поднимает оценку» на этих данных не проверить — нет повторного опроса после решения. Но операционный вопрос проверяем: получают ли жалобы одинаковый охват поддержки в разных направлениях. Разброс огромный — кандидат на разбор с владельцем процесса mobile.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 клиентов Т-Банка — продуктовая аналитика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H5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Новые клиенты (стаж &lt; 3 мес.) менее довольны действующих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31A3A"/>
          </a:solidFill>
          <a:ln w="15875">
            <a:solidFill>
              <a:srgbClr val="4FD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ПОДТВЕРЖДЕНА</a:t>
            </a:r>
            <a:endParaRPr lang="en-US" sz="1200" dirty="0"/>
          </a:p>
        </p:txBody>
      </p:sp>
      <p:pic>
        <p:nvPicPr>
          <p:cNvPr id="6" name="Image 0" descr="C:\Users\igora\edu_portfolios\tbank-reviews-analysis\images\08_new_vs_exist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48840"/>
            <a:ext cx="603504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03720" y="2148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2.95 (новые) vs 3.37 (действующие)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903720" y="256946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t-test, p &lt; 0.001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03720" y="3127248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Классический сигнал про онбординг: первое впечатление и первые проблемы бьют по оценке сильнее, чем у клиентов, уже «притёршихся» к банку. Гипотеза для проверки: усиленное сопровождение первых 3 месяцев может дать непропорционально большой эффект на итоговую удовлетворённость.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 клиентов Т-Банка — продуктовая аналитика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ПУТИ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рассматривалось, но не попало в финальные гипотезы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1737360"/>
          </a:xfrm>
          <a:prstGeom prst="roundRect">
            <a:avLst>
              <a:gd name="adj" fmla="val 5263"/>
            </a:avLst>
          </a:prstGeom>
          <a:solidFill>
            <a:srgbClr val="131A3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Возраст клиента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10451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Разброс оценки между возрастными группами — меньше 0.15 балла у основных сегментов. Эффекта нет, сегментировать коммуникацию по возрасту не имеет смысла.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11091672" cy="1737360"/>
          </a:xfrm>
          <a:prstGeom prst="roundRect">
            <a:avLst>
              <a:gd name="adj" fmla="val 5263"/>
            </a:avLst>
          </a:prstGeom>
          <a:solidFill>
            <a:srgbClr val="131A3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977640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9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«Решение проблемы поднимает CSAT»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480560"/>
            <a:ext cx="10451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датасете нет повторной оценки после решения — гипотезу в исходной формулировке нельзя проверить. Переформулирована в H4 (охват поддержки по направлениям).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 клиентов Т-Банка — продуктовая аналитика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БОЛИТ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Темы и направления с наибольшей долей недовольства</a:t>
            </a:r>
            <a:endParaRPr lang="en-US" sz="2400" dirty="0"/>
          </a:p>
        </p:txBody>
      </p:sp>
      <p:pic>
        <p:nvPicPr>
          <p:cNvPr id="4" name="Image 0" descr="C:\Users\igora\edu_portfolios\tbank-reviews-analysis\images\05_top_negative_them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37360"/>
            <a:ext cx="5760720" cy="4480560"/>
          </a:xfrm>
          <a:prstGeom prst="rect">
            <a:avLst/>
          </a:prstGeom>
        </p:spPr>
      </p:pic>
      <p:pic>
        <p:nvPicPr>
          <p:cNvPr id="5" name="Image 1" descr="C:\Users\igora\edu_portfolios\tbank-reviews-analysis\images\06_business_li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737360"/>
            <a:ext cx="5760720" cy="44805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 клиентов Т-Банка — продуктовая аналитика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Динамика недовольства за год</a:t>
            </a:r>
            <a:endParaRPr lang="en-US" sz="2600" dirty="0"/>
          </a:p>
        </p:txBody>
      </p:sp>
      <p:pic>
        <p:nvPicPr>
          <p:cNvPr id="4" name="Image 0" descr="C:\Users\igora\edu_portfolios\tbank-reviews-analysis\images\07_monthly_tr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737360"/>
            <a:ext cx="841248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1832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31–48%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9418320" y="25146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диапазон доли детракторов весь год, без резких обвалов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9418320" y="3749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Апрель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418320" y="4114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года — 31%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418320" y="4709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Авг–окт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418320" y="5074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к концу года — 42–44%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 клиентов Т-Банка — продуктовая аналитика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находок из пяти гипотез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31A3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D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1783080"/>
            <a:ext cx="9811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закрытия обращения сильно связана с оценкой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31A3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15768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D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2715768"/>
            <a:ext cx="9811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Удовлетворённость растёт вместе с ценностью клиентского сегмента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48456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31A3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48456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D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3648456"/>
            <a:ext cx="9811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между источниками — это разница каналов, а не только качества сервиса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581144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31A3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81144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D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4581144"/>
            <a:ext cx="9811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Охват поддержки различается по направлениям бизнеса в разы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513832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31A3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513832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D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28800" y="5513832"/>
            <a:ext cx="9811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клиенты (&lt; 3 мес.) заметно менее довольны действующих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 клиентов Т-Банка — продуктовая аналитика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делать продуктовой команде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411480" cy="411480"/>
          </a:xfrm>
          <a:prstGeom prst="ellipse">
            <a:avLst/>
          </a:prstGeom>
          <a:solidFill>
            <a:srgbClr val="7C8C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190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Приоритизировать SLA не по доле недовольства, а по объёму × доле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55080" y="16916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Кредитные карты (3 084 отзыва, 73%) и мобильный банк (779, 89%) — больший рычаг, чем ипотека (405 отзывов, 98%).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411480" cy="411480"/>
          </a:xfrm>
          <a:prstGeom prst="ellipse">
            <a:avLst/>
          </a:prstGeom>
          <a:solidFill>
            <a:srgbClr val="7C8C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62432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Разобраться с провалом охвата поддержки в mobile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55080" y="262432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0.9% решённых обращений среди жалоб — понять, реальный это пробел процесса или артефакт данных.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84448"/>
            <a:ext cx="411480" cy="411480"/>
          </a:xfrm>
          <a:prstGeom prst="ellipse">
            <a:avLst/>
          </a:prstGeom>
          <a:solidFill>
            <a:srgbClr val="7C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84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55701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Изучить и перенести практики premium-поддержки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355701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 балла разницы между защищёнными и высокодоходными клиентами — понять, что из этого сервиса дёшево перенести.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517136"/>
            <a:ext cx="411480" cy="411480"/>
          </a:xfrm>
          <a:prstGeom prst="ellipse">
            <a:avLst/>
          </a:prstGeom>
          <a:solidFill>
            <a:srgbClr val="7C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171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48970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смешивать источники при подсчёте репутационной метрики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448970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«Пульс» и безымянные обращения — каналы эскалации жалоб, а не витрины мнений; включать их в общий NPS некорректно.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411480" cy="411480"/>
          </a:xfrm>
          <a:prstGeom prst="ellipse">
            <a:avLst/>
          </a:prstGeom>
          <a:solidFill>
            <a:srgbClr val="7C8C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4498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54223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Усилить сопровождение новых клиентов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55080" y="542239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3 месяца — точка наибольшей уязвимости лояльности (2.95 vs 3.37 балла).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 клиентов Т-Банка — продуктовая аналитика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анализ с кодом — в репозитории на GitHub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github.com/kruasanchikk1/tbank-reviews-analysis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607040" y="914400"/>
            <a:ext cx="91440" cy="91440"/>
          </a:xfrm>
          <a:prstGeom prst="ellipse">
            <a:avLst/>
          </a:prstGeom>
          <a:solidFill>
            <a:srgbClr val="7C8CFF"/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463040"/>
            <a:ext cx="54864" cy="54864"/>
          </a:xfrm>
          <a:prstGeom prst="ellipse">
            <a:avLst/>
          </a:prstGeom>
          <a:solidFill>
            <a:srgbClr val="7C8CF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5760720"/>
            <a:ext cx="73152" cy="73152"/>
          </a:xfrm>
          <a:prstGeom prst="ellipse">
            <a:avLst/>
          </a:prstGeom>
          <a:solidFill>
            <a:srgbClr val="7C8CFF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822960"/>
            <a:ext cx="54864" cy="54864"/>
          </a:xfrm>
          <a:prstGeom prst="ellipse">
            <a:avLst/>
          </a:prstGeom>
          <a:solidFill>
            <a:srgbClr val="7C8CFF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0" y="4114800"/>
            <a:ext cx="91440" cy="91440"/>
          </a:xfrm>
          <a:prstGeom prst="ellipse">
            <a:avLst/>
          </a:prstGeom>
          <a:solidFill>
            <a:srgbClr val="7C8C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2026-08-02T19:23:39Z</dcterms:created>
  <dcterms:modified xsi:type="dcterms:W3CDTF">2026-08-02T19:23:39Z</dcterms:modified>
</cp:coreProperties>
</file>