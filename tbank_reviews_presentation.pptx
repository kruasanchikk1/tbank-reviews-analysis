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8346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теряем лояльность и что с этим делать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Т-Интенсива по продуктовой аналитике · лето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607040" y="914400"/>
            <a:ext cx="91440" cy="91440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6" name="Shape 4"/>
          <p:cNvSpPr/>
          <p:nvPr/>
        </p:nvSpPr>
        <p:spPr>
          <a:xfrm>
            <a:off x="11064240" y="1463040"/>
            <a:ext cx="54864" cy="54864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5760720"/>
            <a:ext cx="73152" cy="73152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822960"/>
            <a:ext cx="54864" cy="54864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114800"/>
            <a:ext cx="91440" cy="91440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017520"/>
            <a:ext cx="54864" cy="54864"/>
          </a:xfrm>
          <a:prstGeom prst="ellipse">
            <a:avLst/>
          </a:prstGeom>
          <a:solidFill>
            <a:srgbClr val="7C8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 чём датасет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56 820 отзывов клиентов Т-Банка о продуктах и сервисе, собранных с 20 источников (banki.ru, sravni.ru, соцсети и др.) за январь–ноябрь 2025 года.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5943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сформулировать и статистически проверить гипотезы о причинах недовольства клиентов и предложить продуктовые рекомендации.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49440" y="169164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131A3A"/>
          </a:solidFill>
          <a:ln/>
        </p:spPr>
      </p:sp>
      <p:sp>
        <p:nvSpPr>
          <p:cNvPr id="7" name="Text 5"/>
          <p:cNvSpPr/>
          <p:nvPr/>
        </p:nvSpPr>
        <p:spPr>
          <a:xfrm>
            <a:off x="7086600" y="1801368"/>
            <a:ext cx="201168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56 820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086600" y="2514600"/>
            <a:ext cx="20116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отзывов клиентов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418320" y="169164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131A3A"/>
          </a:solidFill>
          <a:ln/>
        </p:spPr>
      </p:sp>
      <p:sp>
        <p:nvSpPr>
          <p:cNvPr id="10" name="Text 8"/>
          <p:cNvSpPr/>
          <p:nvPr/>
        </p:nvSpPr>
        <p:spPr>
          <a:xfrm>
            <a:off x="9555480" y="1801368"/>
            <a:ext cx="192024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55480" y="2514600"/>
            <a:ext cx="19202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источников данных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49440" y="324612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131A3A"/>
          </a:solidFill>
          <a:ln/>
        </p:spPr>
      </p:sp>
      <p:sp>
        <p:nvSpPr>
          <p:cNvPr id="13" name="Text 11"/>
          <p:cNvSpPr/>
          <p:nvPr/>
        </p:nvSpPr>
        <p:spPr>
          <a:xfrm>
            <a:off x="7086600" y="3355848"/>
            <a:ext cx="201168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086600" y="4069080"/>
            <a:ext cx="20116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18320" y="32461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131A3A"/>
          </a:solidFill>
          <a:ln/>
        </p:spPr>
      </p:sp>
      <p:sp>
        <p:nvSpPr>
          <p:cNvPr id="16" name="Text 14"/>
          <p:cNvSpPr/>
          <p:nvPr/>
        </p:nvSpPr>
        <p:spPr>
          <a:xfrm>
            <a:off x="9555480" y="3355848"/>
            <a:ext cx="192024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6B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555480" y="4069080"/>
            <a:ext cx="19202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детракторов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ПРЕЖДЕ ЧЕМ СЧИТАТЬ МЕТРИКИ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Чему в данных можно доверять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31A3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94560"/>
            <a:ext cx="128016" cy="128016"/>
          </a:xfrm>
          <a:prstGeom prst="ellipse">
            <a:avLst/>
          </a:prstGeom>
          <a:solidFill>
            <a:srgbClr val="4FD1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87452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Промоутер / детрактор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1874520"/>
            <a:ext cx="70683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Считал строго по формуле организаторов (оценка 1-3 или негатив без оценки = детрактор). По пути нашёл и исправил свою же ошибку — см. следующий слайд.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31A3A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3703320"/>
            <a:ext cx="128016" cy="128016"/>
          </a:xfrm>
          <a:prstGeom prst="ellipse">
            <a:avLst/>
          </a:prstGeom>
          <a:solidFill>
            <a:srgbClr val="FF6B81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832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csat_score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3383280"/>
            <a:ext cx="70683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шкала 1-5, что и review_mark, а не отдельная метрика 0-1. Заполнена только у 6% отзывов — использую как проверку, не как основной ряд.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31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5212080"/>
            <a:ext cx="128016" cy="128016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89204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23% отзывов не привязаны к клиенту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4892040"/>
            <a:ext cx="70683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них ниже доля недовольных (25% против 36% в среднем) — несопоставленные с CRM отзывы систематически спокойнее.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ПРОЗРАЧНОСТЬ МЕТОДИКИ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Нашёл свою же ошибку в разметке — и это изменило один из выводов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Организаторы дали точную формулу: «нейтральные и позитивные без оценки — промоутеры, негативные без оценки — детракторы». В первой версии анализа я по ошибке смэппил все «без оценки» отзывы в детракторы.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— 1 782 отзыва (3.1%), но она несимметрично легла на конкретные источники: 624 — с площадки «пульс», 602 — вообще без указанного источника.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131A3A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965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 и после исправления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606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«нет» (без источника)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052560" y="26060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04120" y="2606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424160" y="26060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32918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«пульс»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052560" y="32918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99.5%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104120" y="3291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0" y="32918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50.8%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отзывы (среднее)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052560" y="39776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39.2%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104120" y="39776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0" y="39776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36.1%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493776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Неожиданно ровные 99-100% на подвыборке — сам по себе повод перепроверить методику, а не сразу делать громкий вывод.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H1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Чем дольше решают вопрос — тем ниже оценка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131A3A"/>
          </a:solidFill>
          <a:ln w="15875">
            <a:solidFill>
              <a:srgbClr val="4FD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ПОДТВЕРЖДЕНА (с оговоркой)</a:t>
            </a:r>
            <a:endParaRPr lang="en-US" sz="1200" dirty="0"/>
          </a:p>
        </p:txBody>
      </p:sp>
      <p:pic>
        <p:nvPicPr>
          <p:cNvPr id="6" name="Image 0" descr="C:\Users\igora\edu_portfolios\tbank-reviews-analysis\images\02_processing_time_vs_detracto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035040" cy="4069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03720" y="2103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= −0.47 по детрактор-флагу, p &lt; 0.001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03720" y="250545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по csat_score: ρ = 0.048 (почти нет эффекта)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903720" y="3044952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Обращения, закрытые за час, дают 20% недовольных — за 1-3 дня — 88%. Но независимая проверка через официальный csat_score эффект почти не находит — вероятно, csat считается на узкой, уже эскалированной подвыборке. Не стоит обещать бизнесу линейный эффект от простого ускорения SLA.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H2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Удовлетворённость растёт вместе с ценностью клиентского сегмента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131A3A"/>
          </a:solidFill>
          <a:ln w="15875">
            <a:solidFill>
              <a:srgbClr val="4FD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ПОДТВЕРЖДЕНА</a:t>
            </a:r>
            <a:endParaRPr lang="en-US" sz="1200" dirty="0"/>
          </a:p>
        </p:txBody>
      </p:sp>
      <p:pic>
        <p:nvPicPr>
          <p:cNvPr id="6" name="Image 0" descr="C:\Users\igora\edu_portfolios\tbank-reviews-analysis\images\09_segment_satisfa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035040" cy="4069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03720" y="2103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46.4% (Защищённые) -&gt; 20.8% (Высокодоходные с ПМ)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03720" y="250545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F = 131.6, p &lt; 0.001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903720" y="3044952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Монотонная зависимость без единого исключения. Вероятная причина — не «более обеспеченные мягче», а разница в уровне обслуживания (выделенная линия поддержки). Вопрос для бизнеса: что из premium-сервиса дёшево перенести на массовый сегмент.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H3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Доля недовольных различается между источниками отзывов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131A3A"/>
          </a:solidFill>
          <a:ln w="15875">
            <a:solidFill>
              <a:srgbClr val="4FD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ПОДТВЕРЖДЕНА (умереннее, чем казалось)</a:t>
            </a:r>
            <a:endParaRPr lang="en-US" sz="1200" dirty="0"/>
          </a:p>
        </p:txBody>
      </p:sp>
      <p:pic>
        <p:nvPicPr>
          <p:cNvPr id="6" name="Image 0" descr="C:\Users\igora\edu_portfolios\tbank-reviews-analysis\images\10_platform_breakdow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035040" cy="4069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03720" y="2103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значим, p &lt; 0.001, 20 источников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03720" y="250545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исправления методики — без экстремумов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903720" y="3044952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banki.ru — 35%, sravni.ru — 20%, otzovik — 75%, «пульс» — 51% (было 99.5% на ошибочных данных, см. слайд про методику). Разброс большой и значимый, но не такой драматичный, как в первой версии анализа — важно считать репутационную метрику отдельно от каналов эскалации жалоб, но без перегиба в «одна площадка = 100% негатива».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H4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Охват поддержки различается по направлениям бизнеса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131A3A"/>
          </a:solidFill>
          <a:ln w="15875">
            <a:solidFill>
              <a:srgbClr val="4FD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ПОДТВЕРЖДЕНА</a:t>
            </a:r>
            <a:endParaRPr lang="en-US" sz="1200" dirty="0"/>
          </a:p>
        </p:txBody>
      </p:sp>
      <p:pic>
        <p:nvPicPr>
          <p:cNvPr id="6" name="Image 0" descr="C:\Users\igora\edu_portfolios\tbank-reviews-analysis\images\11_resolution_by_business_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035040" cy="4069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03720" y="2103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0.9% (mobile) до 74% (sme) решённых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03720" y="250545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жалоб, χ² значим, p &lt; 0.001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903720" y="3044952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«Решение проблемы поднимает оценку» на этих данных не проверить — нет повторного опроса. Но охват поддержки — проверяемый операционный вопрос, и разброс огромный. Дальше — что с этим делать по объёму, а не только по проценту.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H4, ПРОДОЛЖЕНИЕ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Доля vs объём — два разных типа проблем</a:t>
            </a:r>
            <a:endParaRPr lang="en-US" sz="2600" dirty="0"/>
          </a:p>
        </p:txBody>
      </p:sp>
      <p:pic>
        <p:nvPicPr>
          <p:cNvPr id="4" name="Image 0" descr="C:\Users\igora\edu_portfolios\tbank-reviews-analysis\images\12_unresolved_prior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91640"/>
            <a:ext cx="612648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691640"/>
            <a:ext cx="4846320" cy="2103120"/>
          </a:xfrm>
          <a:prstGeom prst="roundRect">
            <a:avLst>
              <a:gd name="adj" fmla="val 4348"/>
            </a:avLst>
          </a:prstGeom>
          <a:solidFill>
            <a:srgbClr val="131A3A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0" y="1874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Депозиты — объёмная проблема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0" y="2377440"/>
            <a:ext cx="43891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≈35% всех нерешённых жалоб банка, но доля недовольных (36%) около средней — просто масштаб направления (19 144 отзыва) делает абсолютное число большим.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0" y="3977640"/>
            <a:ext cx="4846320" cy="2194560"/>
          </a:xfrm>
          <a:prstGeom prst="roundRect">
            <a:avLst>
              <a:gd name="adj" fmla="val 4167"/>
            </a:avLst>
          </a:prstGeom>
          <a:solidFill>
            <a:srgbClr val="131A3A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0" y="41605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— процессная дыра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132320" y="4617720"/>
            <a:ext cx="4389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Жалоб немного (779), но 89% недовольных и почти нулевой охват (0.9% решённых) — жалобы туда как будто не доходят до статуса «решено». Не «работать усерднее», а разобраться, куда деваются заявки.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H5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Новые клиенты (&lt; 3 мес.) недовольны заметно сильнее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131A3A"/>
          </a:solidFill>
          <a:ln w="15875">
            <a:solidFill>
              <a:srgbClr val="4FD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ПОДТВЕРЖДЕНА</a:t>
            </a:r>
            <a:endParaRPr lang="en-US" sz="1200" dirty="0"/>
          </a:p>
        </p:txBody>
      </p:sp>
      <p:pic>
        <p:nvPicPr>
          <p:cNvPr id="6" name="Image 0" descr="C:\Users\igora\edu_portfolios\tbank-reviews-analysis\images\08_new_vs_exis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103120"/>
            <a:ext cx="5029200" cy="4069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760720" y="2103120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50.5% vs 39.5%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760720" y="2697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детракторов: новые клиенты против действующих, χ² значим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60720" y="329184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продукт хуже — а трение первого касания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760720" y="3749040"/>
            <a:ext cx="6035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клиенты чаще жалуются на «карты», «акции», «погашение кредитов» — то, что происходит в момент подключения продукта. Реже — на «кэшбек» и «платежи», которые требуют наработанного опыта. Перепредставлены в депозитах (+14 п.п.) и автокредитах (+7 п.п.).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60720" y="534924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7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Практический вывод: усиленная забота о клиенте в первые недели — это ставка на LTV. Пока клиент не накопил позитивного опыта, он не прощает банку мелкие шероховатости так же легко, как «старожилы».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ПУТИ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проверялось, но не попало в финальные выводы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1920240"/>
          </a:xfrm>
          <a:prstGeom prst="roundRect">
            <a:avLst>
              <a:gd name="adj" fmla="val 4762"/>
            </a:avLst>
          </a:prstGeom>
          <a:solidFill>
            <a:srgbClr val="131A3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11680"/>
            <a:ext cx="10451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91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Возраст клиента — проверил дважды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1045159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«в среднем» (разница &lt; 0.15 балла — нет эффекта). Потом отдельно внутри мобильного приложения и кредитных карт — тоже без эффекта. Единственная наводка (страховые случаи, сеньоры недовольнее) держится на выборке 10-30 человек — недостаточно, чтобы делать вывод.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91672" cy="1920240"/>
          </a:xfrm>
          <a:prstGeom prst="roundRect">
            <a:avLst>
              <a:gd name="adj" fmla="val 4762"/>
            </a:avLst>
          </a:prstGeom>
          <a:solidFill>
            <a:srgbClr val="131A3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160520"/>
            <a:ext cx="10451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91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«Решение проблемы поднимает CSAT»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4663440"/>
            <a:ext cx="1045159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датасете нет повторной оценки после решения — гипотезу в исходной формулировке нельзя проверить. Переформулирована в H4 (охват поддержки по направлениям).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БОЛИТ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и направления с наибольшей долей недовольства</a:t>
            </a:r>
            <a:endParaRPr lang="en-US" sz="2400" dirty="0"/>
          </a:p>
        </p:txBody>
      </p:sp>
      <p:pic>
        <p:nvPicPr>
          <p:cNvPr id="4" name="Image 0" descr="C:\Users\igora\edu_portfolios\tbank-reviews-analysis\images\05_top_negative_them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5760720" cy="4480560"/>
          </a:xfrm>
          <a:prstGeom prst="rect">
            <a:avLst/>
          </a:prstGeom>
        </p:spPr>
      </p:pic>
      <p:pic>
        <p:nvPicPr>
          <p:cNvPr id="5" name="Image 1" descr="C:\Users\igora\edu_portfolios\tbank-reviews-analysis\images\06_business_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09360" y="1737360"/>
            <a:ext cx="5760720" cy="44805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Динамика недовольства за год</a:t>
            </a:r>
            <a:endParaRPr lang="en-US" sz="2600" dirty="0"/>
          </a:p>
        </p:txBody>
      </p:sp>
      <p:pic>
        <p:nvPicPr>
          <p:cNvPr id="4" name="Image 0" descr="C:\Users\igora\edu_portfolios\tbank-reviews-analysis\images\07_monthly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737360"/>
            <a:ext cx="841248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418320" y="210312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 обвалов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418320" y="269748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детракторов держится в спокойном диапазоне весь год, без разовых катастроф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находок из пяти гипотез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31A3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914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28800" y="1783080"/>
            <a:ext cx="9811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закрытия связана с недовольством — но эффект слабее по независимой метрике csat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31A3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15768"/>
            <a:ext cx="914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28800" y="2715768"/>
            <a:ext cx="9811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Удовлетворённость растёт вместе с ценностью клиентского сегмента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48456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31A3A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648456"/>
            <a:ext cx="914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828800" y="3648456"/>
            <a:ext cx="9811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между источниками значима, но умереннее после исправления методики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581144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31A3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81144"/>
            <a:ext cx="914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4581144"/>
            <a:ext cx="9811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Охват поддержки различается по направлениям бизнеса в разы — приоритет разный для доли и объёма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513832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31A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513832"/>
            <a:ext cx="914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D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28800" y="5513832"/>
            <a:ext cx="9811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клиенты недовольнее из-за трения первого касания, а не худшего продукта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делать продуктовой команде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6916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Приоритет по депозитам — объёмный эффект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16916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≈35% всех нерешённых жалоб банка. Небольшое улучшение здесь даёт больше эффекта на общий счётчик, чем где-либо ещё.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411480" cy="411480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517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62432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Срочно разобраться с провалом в mobile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55080" y="2624328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0.9% решённых обращений среди жалоб — понять, реальный это пробел процесса или технический разрыв в маршрутизации заявок.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584448"/>
            <a:ext cx="411480" cy="411480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844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55701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Изучить и перенести практики premium-поддержки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3557016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п.п. разницы между защищёнными и высокодоходными клиентами — понять, что из этого сервиса дёшево перенести.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411480" cy="411480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51713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44897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Точечная забота о новых клиентах в первые недели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4489704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Недовольство концентрируется вокруг подключения карт, депозитов, автокредитов — ставка на LTV, а не изменение продукта.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9824"/>
            <a:ext cx="411480" cy="411480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44982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5422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доверять «слишком ровным» цифрам без перепроверки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55080" y="5422392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99-100% в одной подвыборке в этом же анализе оказались артефактом ошибки в разметке, а не реальным эффектом.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клиентов Т-Банка — продуктовая аналитика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6517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657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анализ с кодом — в репозитории на GitHub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D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github.com/kruasanchikk1/tbank-reviews-analysis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607040" y="914400"/>
            <a:ext cx="91440" cy="91440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6" name="Shape 4"/>
          <p:cNvSpPr/>
          <p:nvPr/>
        </p:nvSpPr>
        <p:spPr>
          <a:xfrm>
            <a:off x="11064240" y="1463040"/>
            <a:ext cx="54864" cy="54864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5760720"/>
            <a:ext cx="73152" cy="73152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822960"/>
            <a:ext cx="54864" cy="54864"/>
          </a:xfrm>
          <a:prstGeom prst="ellipse">
            <a:avLst/>
          </a:prstGeom>
          <a:solidFill>
            <a:srgbClr val="7C8CFF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0" y="4114800"/>
            <a:ext cx="91440" cy="91440"/>
          </a:xfrm>
          <a:prstGeom prst="ellipse">
            <a:avLst/>
          </a:prstGeom>
          <a:solidFill>
            <a:srgbClr val="7C8CF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2026-08-02T20:08:59Z</dcterms:created>
  <dcterms:modified xsi:type="dcterms:W3CDTF">2026-08-02T20:08:59Z</dcterms:modified>
</cp:coreProperties>
</file>